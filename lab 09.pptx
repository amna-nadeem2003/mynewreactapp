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10"/>
  </p:notesMasterIdLst>
  <p:sldIdLst>
    <p:sldId id="257" r:id="rId2"/>
    <p:sldId id="256" r:id="rId3"/>
    <p:sldId id="258" r:id="rId4"/>
    <p:sldId id="285" r:id="rId5"/>
    <p:sldId id="286" r:id="rId6"/>
    <p:sldId id="283" r:id="rId7"/>
    <p:sldId id="284"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c 180203360" initials="B1" lastIdx="1" clrIdx="0">
    <p:extLst>
      <p:ext uri="{19B8F6BF-5375-455C-9EA6-DF929625EA0E}">
        <p15:presenceInfo xmlns:p15="http://schemas.microsoft.com/office/powerpoint/2012/main" userId="5ad820998df6e31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649" autoAdjust="0"/>
  </p:normalViewPr>
  <p:slideViewPr>
    <p:cSldViewPr snapToGrid="0">
      <p:cViewPr varScale="1">
        <p:scale>
          <a:sx n="58" d="100"/>
          <a:sy n="58" d="100"/>
        </p:scale>
        <p:origin x="11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700168-E416-4387-A242-67F5A1B1E854}" type="datetimeFigureOut">
              <a:rPr lang="en-US" smtClean="0"/>
              <a:t>14-Nov-25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87D761-22B5-4FA6-A03C-58323A6AD680}" type="slidenum">
              <a:rPr lang="en-US" smtClean="0"/>
              <a:t>‹#›</a:t>
            </a:fld>
            <a:endParaRPr lang="en-US"/>
          </a:p>
        </p:txBody>
      </p:sp>
    </p:spTree>
    <p:extLst>
      <p:ext uri="{BB962C8B-B14F-4D97-AF65-F5344CB8AC3E}">
        <p14:creationId xmlns:p14="http://schemas.microsoft.com/office/powerpoint/2010/main" val="3704946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SOAP API</a:t>
            </a:r>
          </a:p>
          <a:p>
            <a:r>
              <a:rPr lang="en-US" dirty="0" smtClean="0"/>
              <a:t>(SOAP = Simple Object Access Protocol)</a:t>
            </a:r>
          </a:p>
          <a:p>
            <a:r>
              <a:rPr lang="en-US" dirty="0" smtClean="0"/>
              <a:t>GRAPHQL API</a:t>
            </a:r>
          </a:p>
          <a:p>
            <a:r>
              <a:rPr lang="en-US" b="1" dirty="0" err="1" smtClean="0"/>
              <a:t>WebSocket</a:t>
            </a:r>
            <a:r>
              <a:rPr lang="en-US" b="1" dirty="0" smtClean="0"/>
              <a:t> APIs</a:t>
            </a:r>
          </a:p>
          <a:p>
            <a:r>
              <a:rPr lang="en-US" dirty="0" smtClean="0"/>
              <a:t>Used for </a:t>
            </a:r>
            <a:r>
              <a:rPr lang="en-US" b="1" dirty="0" smtClean="0"/>
              <a:t>real-time communication</a:t>
            </a:r>
            <a:r>
              <a:rPr lang="en-US" dirty="0" smtClean="0"/>
              <a:t>.</a:t>
            </a:r>
          </a:p>
          <a:p>
            <a:r>
              <a:rPr lang="en-US" dirty="0" smtClean="0"/>
              <a:t>✔ Live chat</a:t>
            </a:r>
          </a:p>
          <a:p>
            <a:endParaRPr lang="en-US" dirty="0"/>
          </a:p>
        </p:txBody>
      </p:sp>
      <p:sp>
        <p:nvSpPr>
          <p:cNvPr id="4" name="Slide Number Placeholder 3"/>
          <p:cNvSpPr>
            <a:spLocks noGrp="1"/>
          </p:cNvSpPr>
          <p:nvPr>
            <p:ph type="sldNum" sz="quarter" idx="5"/>
          </p:nvPr>
        </p:nvSpPr>
        <p:spPr/>
        <p:txBody>
          <a:bodyPr/>
          <a:lstStyle/>
          <a:p>
            <a:fld id="{E487D761-22B5-4FA6-A03C-58323A6AD680}" type="slidenum">
              <a:rPr lang="en-US" smtClean="0"/>
              <a:t>3</a:t>
            </a:fld>
            <a:endParaRPr lang="en-US"/>
          </a:p>
        </p:txBody>
      </p:sp>
    </p:spTree>
    <p:extLst>
      <p:ext uri="{BB962C8B-B14F-4D97-AF65-F5344CB8AC3E}">
        <p14:creationId xmlns:p14="http://schemas.microsoft.com/office/powerpoint/2010/main" val="4134175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144D6-F9AA-9407-D66F-618623C34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AB8BB-5489-BF13-4BE8-71E43EC49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2AC8E-BCFE-5C3A-623B-3C7FAED0BFE9}"/>
              </a:ext>
            </a:extLst>
          </p:cNvPr>
          <p:cNvSpPr>
            <a:spLocks noGrp="1"/>
          </p:cNvSpPr>
          <p:nvPr>
            <p:ph type="body" idx="1"/>
          </p:nvPr>
        </p:nvSpPr>
        <p:spPr/>
        <p:txBody>
          <a:bodyPr/>
          <a:lstStyle/>
          <a:p>
            <a:r>
              <a:rPr lang="en-US" dirty="0" smtClean="0"/>
              <a:t>fetch("https://api.example.com/data")</a:t>
            </a:r>
            <a:endParaRPr lang="en-US" dirty="0"/>
          </a:p>
        </p:txBody>
      </p:sp>
      <p:sp>
        <p:nvSpPr>
          <p:cNvPr id="4" name="Slide Number Placeholder 3">
            <a:extLst>
              <a:ext uri="{FF2B5EF4-FFF2-40B4-BE49-F238E27FC236}">
                <a16:creationId xmlns:a16="http://schemas.microsoft.com/office/drawing/2014/main" id="{80209679-9D62-22C8-733F-10FE90CBFCD1}"/>
              </a:ext>
            </a:extLst>
          </p:cNvPr>
          <p:cNvSpPr>
            <a:spLocks noGrp="1"/>
          </p:cNvSpPr>
          <p:nvPr>
            <p:ph type="sldNum" sz="quarter" idx="5"/>
          </p:nvPr>
        </p:nvSpPr>
        <p:spPr/>
        <p:txBody>
          <a:bodyPr/>
          <a:lstStyle/>
          <a:p>
            <a:fld id="{E487D761-22B5-4FA6-A03C-58323A6AD680}" type="slidenum">
              <a:rPr lang="en-US" smtClean="0"/>
              <a:t>4</a:t>
            </a:fld>
            <a:endParaRPr lang="en-US"/>
          </a:p>
        </p:txBody>
      </p:sp>
    </p:spTree>
    <p:extLst>
      <p:ext uri="{BB962C8B-B14F-4D97-AF65-F5344CB8AC3E}">
        <p14:creationId xmlns:p14="http://schemas.microsoft.com/office/powerpoint/2010/main" val="3685269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144D6-F9AA-9407-D66F-618623C34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AB8BB-5489-BF13-4BE8-71E43EC49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2AC8E-BCFE-5C3A-623B-3C7FAED0BFE9}"/>
              </a:ext>
            </a:extLst>
          </p:cNvPr>
          <p:cNvSpPr>
            <a:spLocks noGrp="1"/>
          </p:cNvSpPr>
          <p:nvPr>
            <p:ph type="body" idx="1"/>
          </p:nvPr>
        </p:nvSpPr>
        <p:spPr/>
        <p:txBody>
          <a:bodyPr/>
          <a:lstStyle/>
          <a:p>
            <a:r>
              <a:rPr lang="en-US" dirty="0" smtClean="0"/>
              <a:t>fetch("https://api.example.com/data</a:t>
            </a:r>
            <a:r>
              <a:rPr lang="en-US" dirty="0" smtClean="0"/>
              <a:t>")</a:t>
            </a:r>
          </a:p>
          <a:p>
            <a:endParaRPr lang="en-US" dirty="0" smtClean="0"/>
          </a:p>
          <a:p>
            <a:r>
              <a:rPr lang="en-US" sz="1200" b="0" i="0" kern="1200" dirty="0" smtClean="0">
                <a:solidFill>
                  <a:schemeClr val="tx1"/>
                </a:solidFill>
                <a:effectLst/>
                <a:latin typeface="+mn-lt"/>
                <a:ea typeface="+mn-ea"/>
                <a:cs typeface="+mn-cs"/>
              </a:rPr>
              <a:t>Hooks allow functions to have access to state and other React features without using classes.</a:t>
            </a:r>
          </a:p>
          <a:p>
            <a:r>
              <a:rPr lang="en-US" sz="1200" b="0" i="0" kern="1200" dirty="0" smtClean="0">
                <a:solidFill>
                  <a:schemeClr val="tx1"/>
                </a:solidFill>
                <a:effectLst/>
                <a:latin typeface="+mn-lt"/>
                <a:ea typeface="+mn-ea"/>
                <a:cs typeface="+mn-cs"/>
              </a:rPr>
              <a:t>They provide a more direct API to React concepts like props, state, context, refs, and lifecycle.</a:t>
            </a:r>
          </a:p>
          <a:p>
            <a:endParaRPr lang="en-US" dirty="0"/>
          </a:p>
        </p:txBody>
      </p:sp>
      <p:sp>
        <p:nvSpPr>
          <p:cNvPr id="4" name="Slide Number Placeholder 3">
            <a:extLst>
              <a:ext uri="{FF2B5EF4-FFF2-40B4-BE49-F238E27FC236}">
                <a16:creationId xmlns:a16="http://schemas.microsoft.com/office/drawing/2014/main" id="{80209679-9D62-22C8-733F-10FE90CBFCD1}"/>
              </a:ext>
            </a:extLst>
          </p:cNvPr>
          <p:cNvSpPr>
            <a:spLocks noGrp="1"/>
          </p:cNvSpPr>
          <p:nvPr>
            <p:ph type="sldNum" sz="quarter" idx="5"/>
          </p:nvPr>
        </p:nvSpPr>
        <p:spPr/>
        <p:txBody>
          <a:bodyPr/>
          <a:lstStyle/>
          <a:p>
            <a:fld id="{E487D761-22B5-4FA6-A03C-58323A6AD680}" type="slidenum">
              <a:rPr lang="en-US" smtClean="0"/>
              <a:t>5</a:t>
            </a:fld>
            <a:endParaRPr lang="en-US"/>
          </a:p>
        </p:txBody>
      </p:sp>
    </p:spTree>
    <p:extLst>
      <p:ext uri="{BB962C8B-B14F-4D97-AF65-F5344CB8AC3E}">
        <p14:creationId xmlns:p14="http://schemas.microsoft.com/office/powerpoint/2010/main" val="4293033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976FD-B806-1B70-CA75-56B310B74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24E08-1B54-DC70-BC28-BC4D7AC4F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89F81-2B17-6500-A4B2-1787E8E034A1}"/>
              </a:ext>
            </a:extLst>
          </p:cNvPr>
          <p:cNvSpPr>
            <a:spLocks noGrp="1"/>
          </p:cNvSpPr>
          <p:nvPr>
            <p:ph type="body" idx="1"/>
          </p:nvPr>
        </p:nvSpPr>
        <p:spPr/>
        <p:txBody>
          <a:bodyPr/>
          <a:lstStyle/>
          <a:p>
            <a:r>
              <a:rPr lang="en-US" dirty="0" smtClean="0"/>
              <a:t>Step2:</a:t>
            </a:r>
            <a:r>
              <a:rPr lang="en-US" baseline="0" dirty="0" smtClean="0"/>
              <a:t> </a:t>
            </a:r>
            <a:r>
              <a:rPr lang="en-US" dirty="0" smtClean="0"/>
              <a:t>Install React,</a:t>
            </a:r>
            <a:r>
              <a:rPr lang="en-US" baseline="0" dirty="0" smtClean="0"/>
              <a:t> </a:t>
            </a:r>
            <a:r>
              <a:rPr lang="en-US" dirty="0" smtClean="0"/>
              <a:t>Install all necessary packages</a:t>
            </a:r>
          </a:p>
          <a:p>
            <a:endParaRPr lang="en-US" dirty="0"/>
          </a:p>
        </p:txBody>
      </p:sp>
      <p:sp>
        <p:nvSpPr>
          <p:cNvPr id="4" name="Slide Number Placeholder 3">
            <a:extLst>
              <a:ext uri="{FF2B5EF4-FFF2-40B4-BE49-F238E27FC236}">
                <a16:creationId xmlns:a16="http://schemas.microsoft.com/office/drawing/2014/main" id="{B940B776-ED4C-A89C-01F7-FAB3787A5CF4}"/>
              </a:ext>
            </a:extLst>
          </p:cNvPr>
          <p:cNvSpPr>
            <a:spLocks noGrp="1"/>
          </p:cNvSpPr>
          <p:nvPr>
            <p:ph type="sldNum" sz="quarter" idx="5"/>
          </p:nvPr>
        </p:nvSpPr>
        <p:spPr/>
        <p:txBody>
          <a:bodyPr/>
          <a:lstStyle/>
          <a:p>
            <a:fld id="{E487D761-22B5-4FA6-A03C-58323A6AD680}" type="slidenum">
              <a:rPr lang="en-US" smtClean="0"/>
              <a:t>6</a:t>
            </a:fld>
            <a:endParaRPr lang="en-US"/>
          </a:p>
        </p:txBody>
      </p:sp>
    </p:spTree>
    <p:extLst>
      <p:ext uri="{BB962C8B-B14F-4D97-AF65-F5344CB8AC3E}">
        <p14:creationId xmlns:p14="http://schemas.microsoft.com/office/powerpoint/2010/main" val="4068281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87D761-22B5-4FA6-A03C-58323A6AD680}" type="slidenum">
              <a:rPr lang="en-US" smtClean="0"/>
              <a:t>7</a:t>
            </a:fld>
            <a:endParaRPr lang="en-US"/>
          </a:p>
        </p:txBody>
      </p:sp>
    </p:spTree>
    <p:extLst>
      <p:ext uri="{BB962C8B-B14F-4D97-AF65-F5344CB8AC3E}">
        <p14:creationId xmlns:p14="http://schemas.microsoft.com/office/powerpoint/2010/main" val="30334096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BC0E43BC-25AC-4A69-B8BC-D702F686193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5692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spTree>
    <p:extLst>
      <p:ext uri="{BB962C8B-B14F-4D97-AF65-F5344CB8AC3E}">
        <p14:creationId xmlns:p14="http://schemas.microsoft.com/office/powerpoint/2010/main" val="4057820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2123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D1F036A-69A6-4FA3-8F7C-B27BFCD69365}" type="datetimeFigureOut">
              <a:rPr lang="en-US" smtClean="0"/>
              <a:t>14-Nov-25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0E43BC-25AC-4A69-B8BC-D702F686193F}" type="slidenum">
              <a:rPr lang="en-US" smtClean="0"/>
              <a:t>‹#›</a:t>
            </a:fld>
            <a:endParaRPr lang="en-US"/>
          </a:p>
        </p:txBody>
      </p:sp>
    </p:spTree>
    <p:extLst>
      <p:ext uri="{BB962C8B-B14F-4D97-AF65-F5344CB8AC3E}">
        <p14:creationId xmlns:p14="http://schemas.microsoft.com/office/powerpoint/2010/main" val="135865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D1F036A-69A6-4FA3-8F7C-B27BFCD69365}" type="datetimeFigureOut">
              <a:rPr lang="en-US" smtClean="0"/>
              <a:t>14-Nov-25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0E43BC-25AC-4A69-B8BC-D702F686193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3783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D1F036A-69A6-4FA3-8F7C-B27BFCD69365}" type="datetimeFigureOut">
              <a:rPr lang="en-US" smtClean="0"/>
              <a:t>14-Nov-25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0E43BC-25AC-4A69-B8BC-D702F686193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2027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1F036A-69A6-4FA3-8F7C-B27BFCD69365}" type="datetimeFigureOut">
              <a:rPr lang="en-US" smtClean="0"/>
              <a:t>14-Nov-25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0E43BC-25AC-4A69-B8BC-D702F686193F}" type="slidenum">
              <a:rPr lang="en-US" smtClean="0"/>
              <a:t>‹#›</a:t>
            </a:fld>
            <a:endParaRPr lang="en-US"/>
          </a:p>
        </p:txBody>
      </p:sp>
    </p:spTree>
    <p:extLst>
      <p:ext uri="{BB962C8B-B14F-4D97-AF65-F5344CB8AC3E}">
        <p14:creationId xmlns:p14="http://schemas.microsoft.com/office/powerpoint/2010/main" val="1112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D1F036A-69A6-4FA3-8F7C-B27BFCD69365}" type="datetimeFigureOut">
              <a:rPr lang="en-US" smtClean="0"/>
              <a:t>14-Nov-25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0E43BC-25AC-4A69-B8BC-D702F686193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6712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D1F036A-69A6-4FA3-8F7C-B27BFCD69365}" type="datetimeFigureOut">
              <a:rPr lang="en-US" smtClean="0"/>
              <a:t>14-Nov-25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0E43BC-25AC-4A69-B8BC-D702F686193F}" type="slidenum">
              <a:rPr lang="en-US" smtClean="0"/>
              <a:t>‹#›</a:t>
            </a:fld>
            <a:endParaRPr lang="en-US"/>
          </a:p>
        </p:txBody>
      </p:sp>
    </p:spTree>
    <p:extLst>
      <p:ext uri="{BB962C8B-B14F-4D97-AF65-F5344CB8AC3E}">
        <p14:creationId xmlns:p14="http://schemas.microsoft.com/office/powerpoint/2010/main" val="2640597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D1F036A-69A6-4FA3-8F7C-B27BFCD69365}" type="datetimeFigureOut">
              <a:rPr lang="en-US" smtClean="0"/>
              <a:t>14-Nov-25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0E43BC-25AC-4A69-B8BC-D702F686193F}" type="slidenum">
              <a:rPr lang="en-US" smtClean="0"/>
              <a:t>‹#›</a:t>
            </a:fld>
            <a:endParaRPr lang="en-US"/>
          </a:p>
        </p:txBody>
      </p:sp>
    </p:spTree>
    <p:extLst>
      <p:ext uri="{BB962C8B-B14F-4D97-AF65-F5344CB8AC3E}">
        <p14:creationId xmlns:p14="http://schemas.microsoft.com/office/powerpoint/2010/main" val="2574144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3320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8590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spTree>
    <p:extLst>
      <p:ext uri="{BB962C8B-B14F-4D97-AF65-F5344CB8AC3E}">
        <p14:creationId xmlns:p14="http://schemas.microsoft.com/office/powerpoint/2010/main" val="699332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2829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7298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7602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1F036A-69A6-4FA3-8F7C-B27BFCD69365}"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0E43BC-25AC-4A69-B8BC-D702F686193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7187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D1F036A-69A6-4FA3-8F7C-B27BFCD69365}" type="datetimeFigureOut">
              <a:rPr lang="en-US" smtClean="0"/>
              <a:t>14-Nov-25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C0E43BC-25AC-4A69-B8BC-D702F686193F}" type="slidenum">
              <a:rPr lang="en-US" smtClean="0"/>
              <a:t>‹#›</a:t>
            </a:fld>
            <a:endParaRPr lang="en-US"/>
          </a:p>
        </p:txBody>
      </p:sp>
    </p:spTree>
    <p:extLst>
      <p:ext uri="{BB962C8B-B14F-4D97-AF65-F5344CB8AC3E}">
        <p14:creationId xmlns:p14="http://schemas.microsoft.com/office/powerpoint/2010/main" val="2232565383"/>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nodejs.or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8F0A0FE-1F9F-4FB0-0838-381F6CBABDF1}"/>
              </a:ext>
            </a:extLst>
          </p:cNvPr>
          <p:cNvSpPr/>
          <p:nvPr/>
        </p:nvSpPr>
        <p:spPr>
          <a:xfrm>
            <a:off x="-3048" y="0"/>
            <a:ext cx="3321698" cy="6857700"/>
          </a:xfrm>
          <a:prstGeom prst="rect">
            <a:avLst/>
          </a:prstGeom>
          <a:gradFill>
            <a:gsLst>
              <a:gs pos="0">
                <a:schemeClr val="accent1">
                  <a:lumMod val="5000"/>
                  <a:lumOff val="95000"/>
                </a:schemeClr>
              </a:gs>
              <a:gs pos="21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D86AC2F4-2E34-9098-BC73-6DE0EA5937E1}"/>
              </a:ext>
            </a:extLst>
          </p:cNvPr>
          <p:cNvSpPr>
            <a:spLocks noGrp="1"/>
          </p:cNvSpPr>
          <p:nvPr>
            <p:ph type="ctrTitle"/>
          </p:nvPr>
        </p:nvSpPr>
        <p:spPr>
          <a:xfrm>
            <a:off x="0" y="101663"/>
            <a:ext cx="3332888" cy="3499953"/>
          </a:xfrm>
        </p:spPr>
        <p:txBody>
          <a:bodyPr vert="horz" lIns="91440" tIns="45720" rIns="91440" bIns="45720" rtlCol="0" anchor="b">
            <a:normAutofit/>
          </a:bodyPr>
          <a:lstStyle/>
          <a:p>
            <a:r>
              <a:rPr lang="en-US" sz="4000" kern="1200" dirty="0">
                <a:solidFill>
                  <a:schemeClr val="tx1">
                    <a:lumMod val="95000"/>
                    <a:lumOff val="5000"/>
                  </a:schemeClr>
                </a:solidFill>
                <a:latin typeface="+mj-lt"/>
                <a:ea typeface="+mj-ea"/>
                <a:cs typeface="+mj-cs"/>
              </a:rPr>
              <a:t>Web </a:t>
            </a:r>
            <a:r>
              <a:rPr lang="en-US" sz="4000" kern="1200" dirty="0" smtClean="0">
                <a:solidFill>
                  <a:schemeClr val="tx1">
                    <a:lumMod val="95000"/>
                    <a:lumOff val="5000"/>
                  </a:schemeClr>
                </a:solidFill>
                <a:latin typeface="+mj-lt"/>
                <a:ea typeface="+mj-ea"/>
                <a:cs typeface="+mj-cs"/>
              </a:rPr>
              <a:t>Engineering</a:t>
            </a:r>
            <a:endParaRPr lang="en-US" sz="4000" kern="1200" dirty="0">
              <a:solidFill>
                <a:schemeClr val="tx1">
                  <a:lumMod val="95000"/>
                  <a:lumOff val="5000"/>
                </a:schemeClr>
              </a:solidFill>
              <a:latin typeface="+mj-lt"/>
              <a:ea typeface="+mj-ea"/>
              <a:cs typeface="+mj-cs"/>
            </a:endParaRPr>
          </a:p>
        </p:txBody>
      </p:sp>
      <p:sp>
        <p:nvSpPr>
          <p:cNvPr id="7" name="Subtitle 6">
            <a:extLst>
              <a:ext uri="{FF2B5EF4-FFF2-40B4-BE49-F238E27FC236}">
                <a16:creationId xmlns:a16="http://schemas.microsoft.com/office/drawing/2014/main" id="{D0F872EA-1EBF-E07B-F5C2-67126BC9EB8C}"/>
              </a:ext>
            </a:extLst>
          </p:cNvPr>
          <p:cNvSpPr>
            <a:spLocks noGrp="1"/>
          </p:cNvSpPr>
          <p:nvPr>
            <p:ph type="subTitle" idx="1"/>
          </p:nvPr>
        </p:nvSpPr>
        <p:spPr>
          <a:xfrm>
            <a:off x="2223240" y="1851639"/>
            <a:ext cx="9144000" cy="2623093"/>
          </a:xfrm>
        </p:spPr>
        <p:txBody>
          <a:bodyPr>
            <a:normAutofit/>
          </a:bodyPr>
          <a:lstStyle/>
          <a:p>
            <a:r>
              <a:rPr lang="en-US" sz="3600" b="1" dirty="0">
                <a:solidFill>
                  <a:schemeClr val="tx1">
                    <a:lumMod val="95000"/>
                    <a:lumOff val="5000"/>
                  </a:schemeClr>
                </a:solidFill>
                <a:latin typeface="+mj-lt"/>
                <a:cs typeface="Times New Roman" panose="02020603050405020304" pitchFamily="18" charset="0"/>
              </a:rPr>
              <a:t>LAB </a:t>
            </a:r>
            <a:r>
              <a:rPr lang="en-US" sz="3600" b="1" dirty="0" smtClean="0">
                <a:solidFill>
                  <a:schemeClr val="tx1">
                    <a:lumMod val="95000"/>
                    <a:lumOff val="5000"/>
                  </a:schemeClr>
                </a:solidFill>
                <a:latin typeface="+mj-lt"/>
                <a:cs typeface="Times New Roman" panose="02020603050405020304" pitchFamily="18" charset="0"/>
              </a:rPr>
              <a:t>09</a:t>
            </a:r>
            <a:endParaRPr lang="en-US" sz="3600" b="1" dirty="0">
              <a:solidFill>
                <a:schemeClr val="tx1">
                  <a:lumMod val="95000"/>
                  <a:lumOff val="5000"/>
                </a:schemeClr>
              </a:solidFill>
              <a:latin typeface="+mj-lt"/>
              <a:cs typeface="Times New Roman" panose="02020603050405020304" pitchFamily="18" charset="0"/>
            </a:endParaRPr>
          </a:p>
          <a:p>
            <a:r>
              <a:rPr lang="en-US" dirty="0" smtClean="0">
                <a:solidFill>
                  <a:schemeClr val="tx1">
                    <a:lumMod val="95000"/>
                    <a:lumOff val="5000"/>
                  </a:schemeClr>
                </a:solidFill>
                <a:latin typeface="+mj-lt"/>
                <a:cs typeface="Times New Roman" panose="02020603050405020304" pitchFamily="18" charset="0"/>
              </a:rPr>
              <a:t>14</a:t>
            </a:r>
            <a:r>
              <a:rPr lang="en-US" sz="2000" dirty="0" smtClean="0">
                <a:solidFill>
                  <a:schemeClr val="tx1">
                    <a:lumMod val="95000"/>
                    <a:lumOff val="5000"/>
                  </a:schemeClr>
                </a:solidFill>
                <a:latin typeface="+mj-lt"/>
                <a:cs typeface="Times New Roman" panose="02020603050405020304" pitchFamily="18" charset="0"/>
              </a:rPr>
              <a:t>-nov-2025</a:t>
            </a:r>
            <a:endParaRPr lang="en-US" sz="2000" dirty="0">
              <a:solidFill>
                <a:schemeClr val="tx1">
                  <a:lumMod val="95000"/>
                  <a:lumOff val="5000"/>
                </a:schemeClr>
              </a:solidFill>
              <a:latin typeface="+mj-lt"/>
              <a:cs typeface="Times New Roman" panose="02020603050405020304" pitchFamily="18" charset="0"/>
            </a:endParaRPr>
          </a:p>
          <a:p>
            <a:r>
              <a:rPr lang="en-US" sz="2800" b="1" dirty="0">
                <a:solidFill>
                  <a:schemeClr val="tx1">
                    <a:lumMod val="95000"/>
                    <a:lumOff val="5000"/>
                  </a:schemeClr>
                </a:solidFill>
                <a:latin typeface="+mj-lt"/>
                <a:cs typeface="Times New Roman" panose="02020603050405020304" pitchFamily="18" charset="0"/>
              </a:rPr>
              <a:t>MR. MUHAMMAD AHMED</a:t>
            </a:r>
          </a:p>
          <a:p>
            <a:r>
              <a:rPr lang="en-US" sz="2800" b="1" dirty="0">
                <a:solidFill>
                  <a:schemeClr val="tx1">
                    <a:lumMod val="95000"/>
                    <a:lumOff val="5000"/>
                  </a:schemeClr>
                </a:solidFill>
                <a:latin typeface="+mj-lt"/>
                <a:cs typeface="Times New Roman" panose="02020603050405020304" pitchFamily="18" charset="0"/>
              </a:rPr>
              <a:t>Department of Computer Science</a:t>
            </a:r>
          </a:p>
          <a:p>
            <a:endParaRPr lang="en-US" dirty="0">
              <a:latin typeface="+mj-lt"/>
            </a:endParaRPr>
          </a:p>
        </p:txBody>
      </p:sp>
      <p:sp>
        <p:nvSpPr>
          <p:cNvPr id="2" name="Slide Number Placeholder 1">
            <a:extLst>
              <a:ext uri="{FF2B5EF4-FFF2-40B4-BE49-F238E27FC236}">
                <a16:creationId xmlns:a16="http://schemas.microsoft.com/office/drawing/2014/main" id="{B795EC45-089A-7051-4C19-FC5BA1A37FC7}"/>
              </a:ext>
            </a:extLst>
          </p:cNvPr>
          <p:cNvSpPr>
            <a:spLocks noGrp="1"/>
          </p:cNvSpPr>
          <p:nvPr>
            <p:ph type="sldNum" sz="quarter" idx="12"/>
          </p:nvPr>
        </p:nvSpPr>
        <p:spPr/>
        <p:txBody>
          <a:bodyPr/>
          <a:lstStyle/>
          <a:p>
            <a:fld id="{604AC5EC-E2F9-4D06-8A59-1DAAEC341509}" type="slidenum">
              <a:rPr lang="en-US" smtClean="0"/>
              <a:t>1</a:t>
            </a:fld>
            <a:endParaRPr lang="en-US"/>
          </a:p>
        </p:txBody>
      </p:sp>
      <p:grpSp>
        <p:nvGrpSpPr>
          <p:cNvPr id="14" name="Group 13">
            <a:extLst>
              <a:ext uri="{FF2B5EF4-FFF2-40B4-BE49-F238E27FC236}">
                <a16:creationId xmlns:a16="http://schemas.microsoft.com/office/drawing/2014/main" id="{41B09E42-8FEB-AD47-C0E8-B29A151D79AD}"/>
              </a:ext>
            </a:extLst>
          </p:cNvPr>
          <p:cNvGrpSpPr/>
          <p:nvPr/>
        </p:nvGrpSpPr>
        <p:grpSpPr>
          <a:xfrm>
            <a:off x="1998438" y="0"/>
            <a:ext cx="3608439" cy="1311354"/>
            <a:chOff x="2700726" y="10132"/>
            <a:chExt cx="3608439" cy="1311354"/>
          </a:xfrm>
        </p:grpSpPr>
        <p:pic>
          <p:nvPicPr>
            <p:cNvPr id="10" name="Picture 9" descr="A black and white logo&#10;&#10;Description automatically generated">
              <a:extLst>
                <a:ext uri="{FF2B5EF4-FFF2-40B4-BE49-F238E27FC236}">
                  <a16:creationId xmlns:a16="http://schemas.microsoft.com/office/drawing/2014/main" id="{5522D362-1803-E0D7-4DA7-A05E2EF4D65D}"/>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4015128" y="10132"/>
              <a:ext cx="2294037" cy="1307592"/>
            </a:xfrm>
            <a:prstGeom prst="rect">
              <a:avLst/>
            </a:prstGeom>
            <a:solidFill>
              <a:schemeClr val="bg2">
                <a:lumMod val="50000"/>
              </a:schemeClr>
            </a:solidFill>
            <a:ln>
              <a:noFill/>
            </a:ln>
          </p:spPr>
        </p:pic>
        <p:pic>
          <p:nvPicPr>
            <p:cNvPr id="12" name="Picture 11" descr="A blue and white logo&#10;&#10;Description automatically generated">
              <a:extLst>
                <a:ext uri="{FF2B5EF4-FFF2-40B4-BE49-F238E27FC236}">
                  <a16:creationId xmlns:a16="http://schemas.microsoft.com/office/drawing/2014/main" id="{83D4B9A2-189D-7071-AAEF-8C3FAE86287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700726" y="10132"/>
              <a:ext cx="1311354" cy="1311354"/>
            </a:xfrm>
            <a:prstGeom prst="rect">
              <a:avLst/>
            </a:prstGeom>
            <a:solidFill>
              <a:schemeClr val="bg2">
                <a:lumMod val="75000"/>
              </a:schemeClr>
            </a:solidFill>
          </p:spPr>
        </p:pic>
      </p:grpSp>
    </p:spTree>
    <p:extLst>
      <p:ext uri="{BB962C8B-B14F-4D97-AF65-F5344CB8AC3E}">
        <p14:creationId xmlns:p14="http://schemas.microsoft.com/office/powerpoint/2010/main" val="15522590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D09E3-E2D9-CCCD-4D3E-7B5DE0331395}"/>
              </a:ext>
            </a:extLst>
          </p:cNvPr>
          <p:cNvSpPr>
            <a:spLocks noGrp="1"/>
          </p:cNvSpPr>
          <p:nvPr>
            <p:ph type="ctrTitle"/>
          </p:nvPr>
        </p:nvSpPr>
        <p:spPr>
          <a:xfrm>
            <a:off x="1849894" y="1187627"/>
            <a:ext cx="8791575" cy="2387600"/>
          </a:xfrm>
        </p:spPr>
        <p:txBody>
          <a:bodyPr/>
          <a:lstStyle/>
          <a:p>
            <a:pPr algn="ctr"/>
            <a:r>
              <a:rPr lang="en-US" dirty="0" smtClean="0"/>
              <a:t>API &amp; REACT </a:t>
            </a:r>
            <a:endParaRPr lang="en-US" dirty="0"/>
          </a:p>
        </p:txBody>
      </p:sp>
    </p:spTree>
    <p:extLst>
      <p:ext uri="{BB962C8B-B14F-4D97-AF65-F5344CB8AC3E}">
        <p14:creationId xmlns:p14="http://schemas.microsoft.com/office/powerpoint/2010/main" val="34578979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F56EA-4697-46E8-7238-823B395949B2}"/>
              </a:ext>
            </a:extLst>
          </p:cNvPr>
          <p:cNvSpPr>
            <a:spLocks noGrp="1"/>
          </p:cNvSpPr>
          <p:nvPr>
            <p:ph type="title"/>
          </p:nvPr>
        </p:nvSpPr>
        <p:spPr/>
        <p:txBody>
          <a:bodyPr/>
          <a:lstStyle/>
          <a:p>
            <a:pPr algn="ctr"/>
            <a:r>
              <a:rPr lang="en-US" b="1" dirty="0" smtClean="0"/>
              <a:t>API </a:t>
            </a:r>
            <a:endParaRPr lang="en-US" b="1" dirty="0"/>
          </a:p>
        </p:txBody>
      </p:sp>
      <p:sp>
        <p:nvSpPr>
          <p:cNvPr id="3" name="Content Placeholder 2">
            <a:extLst>
              <a:ext uri="{FF2B5EF4-FFF2-40B4-BE49-F238E27FC236}">
                <a16:creationId xmlns:a16="http://schemas.microsoft.com/office/drawing/2014/main" id="{592624E5-C147-029B-99E7-9F6F7699FCD3}"/>
              </a:ext>
            </a:extLst>
          </p:cNvPr>
          <p:cNvSpPr>
            <a:spLocks noGrp="1"/>
          </p:cNvSpPr>
          <p:nvPr>
            <p:ph idx="1"/>
          </p:nvPr>
        </p:nvSpPr>
        <p:spPr>
          <a:xfrm>
            <a:off x="1295402" y="2645728"/>
            <a:ext cx="9905999" cy="3541714"/>
          </a:xfrm>
        </p:spPr>
        <p:txBody>
          <a:bodyPr>
            <a:normAutofit/>
          </a:bodyPr>
          <a:lstStyle/>
          <a:p>
            <a:r>
              <a:rPr lang="en-US" dirty="0"/>
              <a:t>Application Programming Interface, is a set of rules that allows different software applications to communicate and exchange data</a:t>
            </a:r>
            <a:r>
              <a:rPr lang="en-US" dirty="0" smtClean="0"/>
              <a:t>.</a:t>
            </a:r>
          </a:p>
          <a:p>
            <a:r>
              <a:rPr lang="en-US" dirty="0"/>
              <a:t>It acts as a messenger or a bridge, enabling applications to request and exchange features, data, and functionality without needing to understand each other's internal logic</a:t>
            </a:r>
            <a:r>
              <a:rPr lang="en-US" dirty="0" smtClean="0"/>
              <a:t>.</a:t>
            </a:r>
          </a:p>
          <a:p>
            <a:r>
              <a:rPr lang="en-US" dirty="0"/>
              <a:t>REST API: A REST </a:t>
            </a:r>
            <a:r>
              <a:rPr lang="en-US" dirty="0" err="1" smtClean="0"/>
              <a:t>api</a:t>
            </a:r>
            <a:r>
              <a:rPr lang="en-US" dirty="0" smtClean="0"/>
              <a:t> </a:t>
            </a:r>
            <a:r>
              <a:rPr lang="en-US" dirty="0"/>
              <a:t>uses URLs to perform actions.</a:t>
            </a:r>
          </a:p>
        </p:txBody>
      </p:sp>
    </p:spTree>
    <p:extLst>
      <p:ext uri="{BB962C8B-B14F-4D97-AF65-F5344CB8AC3E}">
        <p14:creationId xmlns:p14="http://schemas.microsoft.com/office/powerpoint/2010/main" val="323169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8409D-D403-55C9-CE6B-D6C2AF6FD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C6707-643A-E087-6BD2-C4F2D67BAE6D}"/>
              </a:ext>
            </a:extLst>
          </p:cNvPr>
          <p:cNvSpPr>
            <a:spLocks noGrp="1"/>
          </p:cNvSpPr>
          <p:nvPr>
            <p:ph type="title"/>
          </p:nvPr>
        </p:nvSpPr>
        <p:spPr/>
        <p:txBody>
          <a:bodyPr>
            <a:normAutofit/>
          </a:bodyPr>
          <a:lstStyle/>
          <a:p>
            <a:pPr algn="ctr"/>
            <a:r>
              <a:rPr lang="en-US" dirty="0" smtClean="0"/>
              <a:t>JAVASCRIPT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923150639"/>
              </p:ext>
            </p:extLst>
          </p:nvPr>
        </p:nvGraphicFramePr>
        <p:xfrm>
          <a:off x="1782617" y="2814474"/>
          <a:ext cx="8658168" cy="2688550"/>
        </p:xfrm>
        <a:graphic>
          <a:graphicData uri="http://schemas.openxmlformats.org/drawingml/2006/table">
            <a:tbl>
              <a:tblPr firstRow="1" bandRow="1">
                <a:tableStyleId>{5C22544A-7EE6-4342-B048-85BDC9FD1C3A}</a:tableStyleId>
              </a:tblPr>
              <a:tblGrid>
                <a:gridCol w="2886056">
                  <a:extLst>
                    <a:ext uri="{9D8B030D-6E8A-4147-A177-3AD203B41FA5}">
                      <a16:colId xmlns:a16="http://schemas.microsoft.com/office/drawing/2014/main" val="1881090136"/>
                    </a:ext>
                  </a:extLst>
                </a:gridCol>
                <a:gridCol w="2886056">
                  <a:extLst>
                    <a:ext uri="{9D8B030D-6E8A-4147-A177-3AD203B41FA5}">
                      <a16:colId xmlns:a16="http://schemas.microsoft.com/office/drawing/2014/main" val="3083038067"/>
                    </a:ext>
                  </a:extLst>
                </a:gridCol>
                <a:gridCol w="2886056">
                  <a:extLst>
                    <a:ext uri="{9D8B030D-6E8A-4147-A177-3AD203B41FA5}">
                      <a16:colId xmlns:a16="http://schemas.microsoft.com/office/drawing/2014/main" val="2840190941"/>
                    </a:ext>
                  </a:extLst>
                </a:gridCol>
              </a:tblGrid>
              <a:tr h="537710">
                <a:tc>
                  <a:txBody>
                    <a:bodyPr/>
                    <a:lstStyle/>
                    <a:p>
                      <a:r>
                        <a:rPr lang="en-US" dirty="0"/>
                        <a:t>Method</a:t>
                      </a:r>
                    </a:p>
                  </a:txBody>
                  <a:tcPr anchor="ctr"/>
                </a:tc>
                <a:tc>
                  <a:txBody>
                    <a:bodyPr/>
                    <a:lstStyle/>
                    <a:p>
                      <a:r>
                        <a:rPr lang="en-US"/>
                        <a:t>Meaning</a:t>
                      </a:r>
                    </a:p>
                  </a:txBody>
                  <a:tcPr anchor="ctr"/>
                </a:tc>
                <a:tc>
                  <a:txBody>
                    <a:bodyPr/>
                    <a:lstStyle/>
                    <a:p>
                      <a:r>
                        <a:rPr lang="en-US"/>
                        <a:t>Example</a:t>
                      </a:r>
                    </a:p>
                  </a:txBody>
                  <a:tcPr anchor="ctr"/>
                </a:tc>
                <a:extLst>
                  <a:ext uri="{0D108BD9-81ED-4DB2-BD59-A6C34878D82A}">
                    <a16:rowId xmlns:a16="http://schemas.microsoft.com/office/drawing/2014/main" val="341284989"/>
                  </a:ext>
                </a:extLst>
              </a:tr>
              <a:tr h="537710">
                <a:tc>
                  <a:txBody>
                    <a:bodyPr/>
                    <a:lstStyle/>
                    <a:p>
                      <a:r>
                        <a:rPr lang="en-US" b="1"/>
                        <a:t>GET</a:t>
                      </a:r>
                      <a:endParaRPr lang="en-US"/>
                    </a:p>
                  </a:txBody>
                  <a:tcPr anchor="ctr"/>
                </a:tc>
                <a:tc>
                  <a:txBody>
                    <a:bodyPr/>
                    <a:lstStyle/>
                    <a:p>
                      <a:r>
                        <a:rPr lang="en-US"/>
                        <a:t>get/fetch data</a:t>
                      </a:r>
                    </a:p>
                  </a:txBody>
                  <a:tcPr anchor="ctr"/>
                </a:tc>
                <a:tc>
                  <a:txBody>
                    <a:bodyPr/>
                    <a:lstStyle/>
                    <a:p>
                      <a:r>
                        <a:rPr lang="en-US"/>
                        <a:t>Load news from News API</a:t>
                      </a:r>
                    </a:p>
                  </a:txBody>
                  <a:tcPr anchor="ctr"/>
                </a:tc>
                <a:extLst>
                  <a:ext uri="{0D108BD9-81ED-4DB2-BD59-A6C34878D82A}">
                    <a16:rowId xmlns:a16="http://schemas.microsoft.com/office/drawing/2014/main" val="3045971259"/>
                  </a:ext>
                </a:extLst>
              </a:tr>
              <a:tr h="537710">
                <a:tc>
                  <a:txBody>
                    <a:bodyPr/>
                    <a:lstStyle/>
                    <a:p>
                      <a:r>
                        <a:rPr lang="en-US" b="1"/>
                        <a:t>POST</a:t>
                      </a:r>
                      <a:endParaRPr lang="en-US"/>
                    </a:p>
                  </a:txBody>
                  <a:tcPr anchor="ctr"/>
                </a:tc>
                <a:tc>
                  <a:txBody>
                    <a:bodyPr/>
                    <a:lstStyle/>
                    <a:p>
                      <a:r>
                        <a:rPr lang="en-US" dirty="0"/>
                        <a:t>send new data</a:t>
                      </a:r>
                    </a:p>
                  </a:txBody>
                  <a:tcPr anchor="ctr"/>
                </a:tc>
                <a:tc>
                  <a:txBody>
                    <a:bodyPr/>
                    <a:lstStyle/>
                    <a:p>
                      <a:r>
                        <a:rPr lang="en-US"/>
                        <a:t>Register a user</a:t>
                      </a:r>
                    </a:p>
                  </a:txBody>
                  <a:tcPr anchor="ctr"/>
                </a:tc>
                <a:extLst>
                  <a:ext uri="{0D108BD9-81ED-4DB2-BD59-A6C34878D82A}">
                    <a16:rowId xmlns:a16="http://schemas.microsoft.com/office/drawing/2014/main" val="353824264"/>
                  </a:ext>
                </a:extLst>
              </a:tr>
              <a:tr h="537710">
                <a:tc>
                  <a:txBody>
                    <a:bodyPr/>
                    <a:lstStyle/>
                    <a:p>
                      <a:r>
                        <a:rPr lang="en-US" b="1"/>
                        <a:t>PUT/PATCH</a:t>
                      </a:r>
                      <a:endParaRPr lang="en-US"/>
                    </a:p>
                  </a:txBody>
                  <a:tcPr anchor="ctr"/>
                </a:tc>
                <a:tc>
                  <a:txBody>
                    <a:bodyPr/>
                    <a:lstStyle/>
                    <a:p>
                      <a:r>
                        <a:rPr lang="en-US"/>
                        <a:t>update existing data</a:t>
                      </a:r>
                    </a:p>
                  </a:txBody>
                  <a:tcPr anchor="ctr"/>
                </a:tc>
                <a:tc>
                  <a:txBody>
                    <a:bodyPr/>
                    <a:lstStyle/>
                    <a:p>
                      <a:r>
                        <a:rPr lang="en-US"/>
                        <a:t>Edit profile</a:t>
                      </a:r>
                    </a:p>
                  </a:txBody>
                  <a:tcPr anchor="ctr"/>
                </a:tc>
                <a:extLst>
                  <a:ext uri="{0D108BD9-81ED-4DB2-BD59-A6C34878D82A}">
                    <a16:rowId xmlns:a16="http://schemas.microsoft.com/office/drawing/2014/main" val="4156546359"/>
                  </a:ext>
                </a:extLst>
              </a:tr>
              <a:tr h="537710">
                <a:tc>
                  <a:txBody>
                    <a:bodyPr/>
                    <a:lstStyle/>
                    <a:p>
                      <a:r>
                        <a:rPr lang="en-US" b="1"/>
                        <a:t>DELETE</a:t>
                      </a:r>
                      <a:endParaRPr lang="en-US"/>
                    </a:p>
                  </a:txBody>
                  <a:tcPr anchor="ctr"/>
                </a:tc>
                <a:tc>
                  <a:txBody>
                    <a:bodyPr/>
                    <a:lstStyle/>
                    <a:p>
                      <a:r>
                        <a:rPr lang="en-US"/>
                        <a:t>delete data</a:t>
                      </a:r>
                    </a:p>
                  </a:txBody>
                  <a:tcPr anchor="ctr"/>
                </a:tc>
                <a:tc>
                  <a:txBody>
                    <a:bodyPr/>
                    <a:lstStyle/>
                    <a:p>
                      <a:r>
                        <a:rPr lang="en-US" dirty="0"/>
                        <a:t>Remove a post</a:t>
                      </a:r>
                    </a:p>
                  </a:txBody>
                  <a:tcPr anchor="ctr"/>
                </a:tc>
                <a:extLst>
                  <a:ext uri="{0D108BD9-81ED-4DB2-BD59-A6C34878D82A}">
                    <a16:rowId xmlns:a16="http://schemas.microsoft.com/office/drawing/2014/main" val="653210031"/>
                  </a:ext>
                </a:extLst>
              </a:tr>
            </a:tbl>
          </a:graphicData>
        </a:graphic>
      </p:graphicFrame>
    </p:spTree>
    <p:extLst>
      <p:ext uri="{BB962C8B-B14F-4D97-AF65-F5344CB8AC3E}">
        <p14:creationId xmlns:p14="http://schemas.microsoft.com/office/powerpoint/2010/main" val="135166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down)">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8409D-D403-55C9-CE6B-D6C2AF6FD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C6707-643A-E087-6BD2-C4F2D67BAE6D}"/>
              </a:ext>
            </a:extLst>
          </p:cNvPr>
          <p:cNvSpPr>
            <a:spLocks noGrp="1"/>
          </p:cNvSpPr>
          <p:nvPr>
            <p:ph type="title"/>
          </p:nvPr>
        </p:nvSpPr>
        <p:spPr/>
        <p:txBody>
          <a:bodyPr>
            <a:normAutofit/>
          </a:bodyPr>
          <a:lstStyle/>
          <a:p>
            <a:pPr algn="ctr"/>
            <a:r>
              <a:rPr lang="en-US" dirty="0" smtClean="0"/>
              <a:t>REACT: USEEFFECT HOOK</a:t>
            </a:r>
            <a:endParaRPr lang="en-US" dirty="0"/>
          </a:p>
        </p:txBody>
      </p:sp>
      <p:sp>
        <p:nvSpPr>
          <p:cNvPr id="3" name="Content Placeholder 2"/>
          <p:cNvSpPr>
            <a:spLocks noGrp="1"/>
          </p:cNvSpPr>
          <p:nvPr>
            <p:ph idx="1"/>
          </p:nvPr>
        </p:nvSpPr>
        <p:spPr/>
        <p:txBody>
          <a:bodyPr/>
          <a:lstStyle/>
          <a:p>
            <a:r>
              <a:rPr lang="en-US" dirty="0"/>
              <a:t>The </a:t>
            </a:r>
            <a:r>
              <a:rPr lang="en-US" dirty="0" err="1"/>
              <a:t>useEffect</a:t>
            </a:r>
            <a:r>
              <a:rPr lang="en-US" dirty="0"/>
              <a:t> Hook allows you to perform side effects in your components</a:t>
            </a:r>
            <a:r>
              <a:rPr lang="en-US" dirty="0" smtClean="0"/>
              <a:t>.</a:t>
            </a:r>
          </a:p>
          <a:p>
            <a:r>
              <a:rPr lang="en-US" dirty="0"/>
              <a:t>React uses </a:t>
            </a:r>
            <a:r>
              <a:rPr lang="en-US" b="1" dirty="0" err="1"/>
              <a:t>useEffect</a:t>
            </a:r>
            <a:r>
              <a:rPr lang="en-US" dirty="0"/>
              <a:t> for things that should run automatically once.</a:t>
            </a:r>
          </a:p>
          <a:p>
            <a:r>
              <a:rPr lang="en-US" dirty="0"/>
              <a:t>Some examples of side effects are: fetching data, directly updating the DOM, and timers.</a:t>
            </a:r>
          </a:p>
        </p:txBody>
      </p:sp>
    </p:spTree>
    <p:extLst>
      <p:ext uri="{BB962C8B-B14F-4D97-AF65-F5344CB8AC3E}">
        <p14:creationId xmlns:p14="http://schemas.microsoft.com/office/powerpoint/2010/main" val="47967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288C7-AF72-1F87-DD01-41ABA26F0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A36D0-D0A3-91BD-3150-5E5ED71DBE77}"/>
              </a:ext>
            </a:extLst>
          </p:cNvPr>
          <p:cNvSpPr>
            <a:spLocks noGrp="1"/>
          </p:cNvSpPr>
          <p:nvPr>
            <p:ph type="title"/>
          </p:nvPr>
        </p:nvSpPr>
        <p:spPr/>
        <p:txBody>
          <a:bodyPr/>
          <a:lstStyle/>
          <a:p>
            <a:pPr algn="ctr"/>
            <a:r>
              <a:rPr lang="en-US" dirty="0" smtClean="0"/>
              <a:t>Node </a:t>
            </a:r>
            <a:r>
              <a:rPr lang="en-US" dirty="0" err="1" smtClean="0"/>
              <a:t>js</a:t>
            </a:r>
            <a:r>
              <a:rPr lang="en-US" dirty="0" smtClean="0"/>
              <a:t> tutorial </a:t>
            </a:r>
            <a:endParaRPr lang="en-US" dirty="0"/>
          </a:p>
        </p:txBody>
      </p:sp>
      <p:sp>
        <p:nvSpPr>
          <p:cNvPr id="3" name="Content Placeholder 2">
            <a:extLst>
              <a:ext uri="{FF2B5EF4-FFF2-40B4-BE49-F238E27FC236}">
                <a16:creationId xmlns:a16="http://schemas.microsoft.com/office/drawing/2014/main" id="{4674E2E8-205B-17E6-6DD3-CFC8F142626C}"/>
              </a:ext>
            </a:extLst>
          </p:cNvPr>
          <p:cNvSpPr>
            <a:spLocks noGrp="1"/>
          </p:cNvSpPr>
          <p:nvPr>
            <p:ph idx="1"/>
          </p:nvPr>
        </p:nvSpPr>
        <p:spPr/>
        <p:txBody>
          <a:bodyPr>
            <a:normAutofit fontScale="92500" lnSpcReduction="10000"/>
          </a:bodyPr>
          <a:lstStyle/>
          <a:p>
            <a:r>
              <a:rPr lang="en-US" b="1" dirty="0" smtClean="0"/>
              <a:t>Step 1: Download </a:t>
            </a:r>
            <a:r>
              <a:rPr lang="en-US" b="1" dirty="0"/>
              <a:t>from the official </a:t>
            </a:r>
            <a:r>
              <a:rPr lang="en-US" b="1" dirty="0" smtClean="0"/>
              <a:t>website and install:</a:t>
            </a:r>
            <a:endParaRPr lang="en-US" b="1" dirty="0"/>
          </a:p>
          <a:p>
            <a:pPr lvl="1"/>
            <a:r>
              <a:rPr lang="en-US" dirty="0">
                <a:hlinkClick r:id="rId3"/>
              </a:rPr>
              <a:t>https://nodejs.org</a:t>
            </a:r>
            <a:r>
              <a:rPr lang="en-US" dirty="0" smtClean="0">
                <a:hlinkClick r:id="rId3"/>
              </a:rPr>
              <a:t>/</a:t>
            </a:r>
            <a:endParaRPr lang="en-US" dirty="0" smtClean="0"/>
          </a:p>
          <a:p>
            <a:r>
              <a:rPr lang="en-US" b="1" dirty="0" smtClean="0"/>
              <a:t>Step 2: </a:t>
            </a:r>
            <a:r>
              <a:rPr lang="en-US" dirty="0" smtClean="0"/>
              <a:t>Open </a:t>
            </a:r>
            <a:r>
              <a:rPr lang="en-US" dirty="0" err="1" smtClean="0"/>
              <a:t>Nodejs</a:t>
            </a:r>
            <a:r>
              <a:rPr lang="en-US" dirty="0" smtClean="0"/>
              <a:t> terminal and </a:t>
            </a:r>
            <a:r>
              <a:rPr lang="en-US" dirty="0"/>
              <a:t>run command: </a:t>
            </a:r>
            <a:endParaRPr lang="en-US" dirty="0" smtClean="0"/>
          </a:p>
          <a:p>
            <a:pPr lvl="1"/>
            <a:r>
              <a:rPr lang="en-US" dirty="0" err="1" smtClean="0"/>
              <a:t>npx</a:t>
            </a:r>
            <a:r>
              <a:rPr lang="en-US" dirty="0" smtClean="0"/>
              <a:t> </a:t>
            </a:r>
            <a:r>
              <a:rPr lang="en-US" dirty="0"/>
              <a:t>create-react-app </a:t>
            </a:r>
            <a:r>
              <a:rPr lang="en-US" dirty="0" err="1" smtClean="0"/>
              <a:t>newsapp</a:t>
            </a:r>
            <a:endParaRPr lang="en-US" dirty="0" smtClean="0"/>
          </a:p>
          <a:p>
            <a:r>
              <a:rPr lang="en-US" b="1" dirty="0" smtClean="0"/>
              <a:t>Step 3: </a:t>
            </a:r>
            <a:r>
              <a:rPr lang="en-US" dirty="0" smtClean="0"/>
              <a:t>after step 2 completion run </a:t>
            </a:r>
          </a:p>
          <a:p>
            <a:pPr lvl="1"/>
            <a:r>
              <a:rPr lang="en-US" dirty="0" smtClean="0"/>
              <a:t>cd </a:t>
            </a:r>
            <a:r>
              <a:rPr lang="en-US" dirty="0" err="1" smtClean="0"/>
              <a:t>newapp</a:t>
            </a:r>
            <a:endParaRPr lang="en-US" dirty="0" smtClean="0"/>
          </a:p>
          <a:p>
            <a:r>
              <a:rPr lang="en-US" b="1" dirty="0"/>
              <a:t>Step 4: </a:t>
            </a:r>
            <a:r>
              <a:rPr lang="en-US" dirty="0"/>
              <a:t>Start React: </a:t>
            </a:r>
            <a:r>
              <a:rPr lang="en-US" dirty="0" err="1"/>
              <a:t>npm</a:t>
            </a:r>
            <a:r>
              <a:rPr lang="en-US" dirty="0"/>
              <a:t> </a:t>
            </a:r>
            <a:r>
              <a:rPr lang="en-US" dirty="0" smtClean="0"/>
              <a:t>start</a:t>
            </a:r>
          </a:p>
          <a:p>
            <a:pPr lvl="1"/>
            <a:r>
              <a:rPr lang="en-US" dirty="0"/>
              <a:t>http://</a:t>
            </a:r>
            <a:r>
              <a:rPr lang="en-US" dirty="0" smtClean="0"/>
              <a:t>localhost:3000</a:t>
            </a:r>
            <a:r>
              <a:rPr lang="en-US" dirty="0"/>
              <a:t>/</a:t>
            </a:r>
          </a:p>
        </p:txBody>
      </p:sp>
    </p:spTree>
    <p:extLst>
      <p:ext uri="{BB962C8B-B14F-4D97-AF65-F5344CB8AC3E}">
        <p14:creationId xmlns:p14="http://schemas.microsoft.com/office/powerpoint/2010/main" val="48938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additive="base">
                                        <p:cTn id="1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C7C25-2F9B-76ED-F49A-B9AAEAC5D37B}"/>
              </a:ext>
            </a:extLst>
          </p:cNvPr>
          <p:cNvSpPr>
            <a:spLocks noGrp="1"/>
          </p:cNvSpPr>
          <p:nvPr>
            <p:ph type="title"/>
          </p:nvPr>
        </p:nvSpPr>
        <p:spPr/>
        <p:txBody>
          <a:bodyPr>
            <a:normAutofit/>
          </a:bodyPr>
          <a:lstStyle/>
          <a:p>
            <a:pPr algn="ctr"/>
            <a:r>
              <a:rPr lang="en-US" dirty="0" smtClean="0"/>
              <a:t>VS code</a:t>
            </a:r>
            <a:endParaRPr lang="en-US" dirty="0"/>
          </a:p>
        </p:txBody>
      </p:sp>
      <p:sp>
        <p:nvSpPr>
          <p:cNvPr id="3" name="Content Placeholder 2">
            <a:extLst>
              <a:ext uri="{FF2B5EF4-FFF2-40B4-BE49-F238E27FC236}">
                <a16:creationId xmlns:a16="http://schemas.microsoft.com/office/drawing/2014/main" id="{466FBCD6-92DB-B6C9-429C-2432EC5E698A}"/>
              </a:ext>
            </a:extLst>
          </p:cNvPr>
          <p:cNvSpPr>
            <a:spLocks noGrp="1"/>
          </p:cNvSpPr>
          <p:nvPr>
            <p:ph idx="1"/>
          </p:nvPr>
        </p:nvSpPr>
        <p:spPr/>
        <p:txBody>
          <a:bodyPr>
            <a:normAutofit/>
          </a:bodyPr>
          <a:lstStyle/>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Open </a:t>
            </a:r>
            <a:r>
              <a:rPr lang="en-US" altLang="en-US" b="1" dirty="0">
                <a:solidFill>
                  <a:schemeClr val="tx1"/>
                </a:solidFill>
                <a:latin typeface="Arial" panose="020B0604020202020204" pitchFamily="34" charset="0"/>
              </a:rPr>
              <a:t>VS Code</a:t>
            </a:r>
            <a:endParaRPr lang="en-US" altLang="en-US"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Click </a:t>
            </a:r>
            <a:r>
              <a:rPr lang="en-US" altLang="en-US" b="1" dirty="0">
                <a:solidFill>
                  <a:schemeClr val="tx1"/>
                </a:solidFill>
                <a:latin typeface="Arial" panose="020B0604020202020204" pitchFamily="34" charset="0"/>
              </a:rPr>
              <a:t>File → Open Folder</a:t>
            </a:r>
            <a:endParaRPr lang="en-US" altLang="en-US"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Select your project </a:t>
            </a:r>
            <a:r>
              <a:rPr lang="en-US" altLang="en-US" dirty="0" smtClean="0">
                <a:solidFill>
                  <a:schemeClr val="tx1"/>
                </a:solidFill>
                <a:latin typeface="Arial" panose="020B0604020202020204" pitchFamily="34" charset="0"/>
              </a:rPr>
              <a:t>folder</a:t>
            </a:r>
            <a:endParaRPr lang="en-US" altLang="en-US" dirty="0">
              <a:solidFill>
                <a:schemeClr val="tx1"/>
              </a:solidFill>
              <a:latin typeface="Arial" panose="020B0604020202020204" pitchFamily="34" charset="0"/>
            </a:endParaRPr>
          </a:p>
          <a:p>
            <a:pPr marL="457200" lvl="1" indent="0" defTabSz="914400" eaLnBrk="0" fontAlgn="base" hangingPunct="0">
              <a:spcBef>
                <a:spcPct val="0"/>
              </a:spcBef>
              <a:spcAft>
                <a:spcPct val="0"/>
              </a:spcAft>
              <a:buClrTx/>
              <a:buSzTx/>
              <a:buFontTx/>
              <a:buChar char="•"/>
            </a:pPr>
            <a:r>
              <a:rPr lang="en-US" altLang="en-US" dirty="0" err="1">
                <a:solidFill>
                  <a:schemeClr val="tx1"/>
                </a:solidFill>
                <a:latin typeface="Arial" panose="020B0604020202020204" pitchFamily="34" charset="0"/>
              </a:rPr>
              <a:t>node_modules</a:t>
            </a:r>
            <a:endParaRPr lang="en-US" altLang="en-US" dirty="0">
              <a:solidFill>
                <a:schemeClr val="tx1"/>
              </a:solidFill>
              <a:latin typeface="Arial" panose="020B0604020202020204" pitchFamily="34" charset="0"/>
            </a:endParaRPr>
          </a:p>
          <a:p>
            <a:pPr marL="457200" lvl="1"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public</a:t>
            </a:r>
          </a:p>
          <a:p>
            <a:pPr marL="457200" lvl="1" indent="0" defTabSz="914400" eaLnBrk="0" fontAlgn="base" hangingPunct="0">
              <a:spcBef>
                <a:spcPct val="0"/>
              </a:spcBef>
              <a:spcAft>
                <a:spcPct val="0"/>
              </a:spcAft>
              <a:buClrTx/>
              <a:buSzTx/>
              <a:buFontTx/>
              <a:buChar char="•"/>
            </a:pPr>
            <a:r>
              <a:rPr lang="en-US" altLang="en-US" dirty="0" err="1">
                <a:solidFill>
                  <a:schemeClr val="tx1"/>
                </a:solidFill>
                <a:latin typeface="Arial" panose="020B0604020202020204" pitchFamily="34" charset="0"/>
              </a:rPr>
              <a:t>src</a:t>
            </a:r>
            <a:endParaRPr lang="en-US" altLang="en-US" dirty="0">
              <a:solidFill>
                <a:schemeClr val="tx1"/>
              </a:solidFill>
              <a:latin typeface="Arial" panose="020B0604020202020204" pitchFamily="34" charset="0"/>
            </a:endParaRPr>
          </a:p>
          <a:p>
            <a:pPr marL="457200" lvl="1" indent="0" defTabSz="914400" eaLnBrk="0" fontAlgn="base" hangingPunct="0">
              <a:spcBef>
                <a:spcPct val="0"/>
              </a:spcBef>
              <a:spcAft>
                <a:spcPct val="0"/>
              </a:spcAft>
              <a:buClrTx/>
              <a:buSzTx/>
              <a:buFontTx/>
              <a:buChar char="•"/>
            </a:pPr>
            <a:r>
              <a:rPr lang="en-US" altLang="en-US" dirty="0" err="1">
                <a:solidFill>
                  <a:schemeClr val="tx1"/>
                </a:solidFill>
                <a:latin typeface="Arial" panose="020B0604020202020204" pitchFamily="34" charset="0"/>
              </a:rPr>
              <a:t>package.json</a:t>
            </a:r>
            <a:endParaRPr lang="en-US" altLang="en-US" dirty="0">
              <a:solidFill>
                <a:schemeClr val="tx1"/>
              </a:solidFill>
              <a:latin typeface="Arial" panose="020B0604020202020204" pitchFamily="34" charset="0"/>
            </a:endParaRPr>
          </a:p>
          <a:p>
            <a:endParaRPr lang="en-US" dirty="0"/>
          </a:p>
        </p:txBody>
      </p:sp>
      <p:sp>
        <p:nvSpPr>
          <p:cNvPr id="5" name="Rectangle 2"/>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87315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BDA1-52D5-03A3-EFBC-3579A6E88192}"/>
              </a:ext>
            </a:extLst>
          </p:cNvPr>
          <p:cNvSpPr>
            <a:spLocks noGrp="1"/>
          </p:cNvSpPr>
          <p:nvPr>
            <p:ph type="title"/>
          </p:nvPr>
        </p:nvSpPr>
        <p:spPr/>
        <p:txBody>
          <a:bodyPr/>
          <a:lstStyle/>
          <a:p>
            <a:pPr algn="ctr"/>
            <a:r>
              <a:rPr lang="en-US" dirty="0"/>
              <a:t>Lab </a:t>
            </a:r>
            <a:r>
              <a:rPr lang="en-US" dirty="0" smtClean="0"/>
              <a:t>tasks 09</a:t>
            </a:r>
            <a:endParaRPr lang="en-US" dirty="0"/>
          </a:p>
        </p:txBody>
      </p:sp>
      <p:sp>
        <p:nvSpPr>
          <p:cNvPr id="3" name="Content Placeholder 2">
            <a:extLst>
              <a:ext uri="{FF2B5EF4-FFF2-40B4-BE49-F238E27FC236}">
                <a16:creationId xmlns:a16="http://schemas.microsoft.com/office/drawing/2014/main" id="{96076E20-2DD2-6BC3-B9AA-641A4FC8B6B2}"/>
              </a:ext>
            </a:extLst>
          </p:cNvPr>
          <p:cNvSpPr>
            <a:spLocks noGrp="1"/>
          </p:cNvSpPr>
          <p:nvPr>
            <p:ph idx="1"/>
          </p:nvPr>
        </p:nvSpPr>
        <p:spPr>
          <a:xfrm>
            <a:off x="996311" y="2661670"/>
            <a:ext cx="10199378" cy="3989995"/>
          </a:xfrm>
        </p:spPr>
        <p:txBody>
          <a:bodyPr>
            <a:normAutofit/>
          </a:bodyPr>
          <a:lstStyle/>
          <a:p>
            <a:pPr lvl="0"/>
            <a:r>
              <a:rPr lang="en-US" dirty="0"/>
              <a:t>In this lab, students will create a React application with a clean and responsive UI. They will use the News API to fetch real news using GET and will also implement POST, PUT, and DELETE operations in React to practice handling API requests.</a:t>
            </a:r>
          </a:p>
          <a:p>
            <a:pPr lvl="1"/>
            <a:r>
              <a:rPr lang="en-US" dirty="0" err="1"/>
              <a:t>NewsAPI</a:t>
            </a:r>
            <a:endParaRPr lang="en-US" dirty="0"/>
          </a:p>
        </p:txBody>
      </p:sp>
    </p:spTree>
    <p:extLst>
      <p:ext uri="{BB962C8B-B14F-4D97-AF65-F5344CB8AC3E}">
        <p14:creationId xmlns:p14="http://schemas.microsoft.com/office/powerpoint/2010/main" val="355564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A2BEDC8B-F191-493B-BA33-0F4F800A89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TM02900743[[fn=Organic]]</Template>
  <TotalTime>751</TotalTime>
  <Words>308</Words>
  <Application>Microsoft Office PowerPoint</Application>
  <PresentationFormat>Widescreen</PresentationFormat>
  <Paragraphs>68</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Garamond</vt:lpstr>
      <vt:lpstr>Times New Roman</vt:lpstr>
      <vt:lpstr>Organic</vt:lpstr>
      <vt:lpstr>Web Engineering</vt:lpstr>
      <vt:lpstr>API &amp; REACT </vt:lpstr>
      <vt:lpstr>API </vt:lpstr>
      <vt:lpstr>JAVASCRIPT</vt:lpstr>
      <vt:lpstr>REACT: USEEFFECT HOOK</vt:lpstr>
      <vt:lpstr>Node js tutorial </vt:lpstr>
      <vt:lpstr>VS code</vt:lpstr>
      <vt:lpstr>Lab tasks 09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engineering</dc:title>
  <dc:creator>Bc 180203360</dc:creator>
  <cp:lastModifiedBy>Ahmed</cp:lastModifiedBy>
  <cp:revision>139</cp:revision>
  <dcterms:created xsi:type="dcterms:W3CDTF">2025-09-23T15:15:56Z</dcterms:created>
  <dcterms:modified xsi:type="dcterms:W3CDTF">2025-11-14T09:29:34Z</dcterms:modified>
</cp:coreProperties>
</file>